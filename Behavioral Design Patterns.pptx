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8" r:id="rId3"/>
    <p:sldId id="259" r:id="rId4"/>
    <p:sldId id="260" r:id="rId5"/>
    <p:sldId id="261" r:id="rId6"/>
    <p:sldId id="26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EF05D-F235-C4E3-E0B4-7518A90FC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B7DB2-5061-C039-059C-7DAE20594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F8C78-1658-98BC-5D00-2896B31F4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B804-B57F-4FB6-89D0-A1811CD2395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7757E-DFAC-EAD2-33EA-99919C9D2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69B4E-7D6E-2CDF-CB7F-79B09C73C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C6C98-EEF0-4229-A2B4-8C972A319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83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32FCE-BAF7-894F-A6C7-5973FA687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74B21-331D-A715-20DD-BB6B58D7A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38E55-D536-B132-1CAF-33F7A2434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B804-B57F-4FB6-89D0-A1811CD2395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13CCF-7D8C-B68E-FFA8-A38EC5F04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B21B7-7970-A632-32E9-6EE774DC9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C6C98-EEF0-4229-A2B4-8C972A319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8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6BCCD-CC80-E2D8-A0E9-C9AD19711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671E9-C3AC-878E-EA6B-44C647FC6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D06A6-150D-E174-2EAB-4413C629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B804-B57F-4FB6-89D0-A1811CD2395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8C863-1640-CE5C-9A39-7AB8987E7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6FB9F-4CE4-8569-2903-BA9262464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C6C98-EEF0-4229-A2B4-8C972A319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82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4731E-0303-797E-CBD2-8C41EEA51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6B93F-8854-7F3C-D554-CC490D05A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E5109F-3593-1BD4-29AF-D9FB8A364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47697-7A2C-B388-B98D-ECBB8D65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B804-B57F-4FB6-89D0-A1811CD2395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3C022-89E8-0FA9-A366-012F4D911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88C21-85E3-A735-BC74-E37AEEA6E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C6C98-EEF0-4229-A2B4-8C972A319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218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DAC23-2939-6B20-1C8C-D5F8890D6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1DC9A-B541-D6B1-BAEA-B6FE7A828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EE149-E5B0-5F01-FDE5-C6DD312E5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8C197C-7319-C789-F2AF-D06CD0306B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DD8FE-D40F-50FA-3CCB-81F1F16AA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09092-D537-A86D-424E-A2E0C9772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B804-B57F-4FB6-89D0-A1811CD2395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CB219E-9BCD-655A-9062-12099097C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CEBDFC-2DD5-D4BB-CF60-5B3D9F1FB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C6C98-EEF0-4229-A2B4-8C972A319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253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4E785-B5A3-C06A-78EC-EAB975027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4CA23B-CBD5-9A10-8CA3-2668C9A59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B804-B57F-4FB6-89D0-A1811CD2395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0D1089-5AA4-4E6D-EDF1-3F89EA8B3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4B9A41-19EF-A764-7A03-416BEF728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C6C98-EEF0-4229-A2B4-8C972A319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1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D77CA8-6E84-FA07-9066-987AEEA6A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B804-B57F-4FB6-89D0-A1811CD2395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15CBF6-FC44-1A02-5AA6-B7223CF7F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3A3D9-E1B4-0074-E776-211887BD6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C6C98-EEF0-4229-A2B4-8C972A319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30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70992-5AA9-E9B1-BB3E-2894A9BA9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0F90A-4587-28FE-0ECE-35AFE341D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5A1FB0-57E9-9116-0004-364ADED02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1DC38-F1F8-DC13-EEFB-CBC7724BA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B804-B57F-4FB6-89D0-A1811CD2395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1110D-E287-1000-04A6-FCFD33FE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AA66C-1CF8-7934-BA84-5F2B9CF8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C6C98-EEF0-4229-A2B4-8C972A319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77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5EBC9-2AA3-E5FE-F96F-3D5763539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C7165D-B6AB-E768-20BF-07AC505925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FAF17-77F1-4FE5-4FAB-A218B4992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9BA76-2375-CE26-3A7F-2561E0683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B804-B57F-4FB6-89D0-A1811CD2395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7CE8A7-4F90-D8F2-89F0-03AF612F0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1A1F6-29C0-2BCA-76CE-B1B99741F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C6C98-EEF0-4229-A2B4-8C972A319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482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0C4CE-4FA9-C89F-1ADE-8BAFB5362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982FB5-6A9D-8F22-1A16-1A494F565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C9954-28CC-1A74-F22B-F53A92377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B804-B57F-4FB6-89D0-A1811CD2395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8000E-FCB0-F67C-C2C3-02FA471B8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39807-7E97-1B47-E7C8-26232C0FA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C6C98-EEF0-4229-A2B4-8C972A319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945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610655-8F1F-18CE-7491-F1A0B91E19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969CDF-FB8B-D036-8403-E61F370CB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2BFF9-721F-9C29-69D2-AE775A24E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B804-B57F-4FB6-89D0-A1811CD2395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29A16-937D-7D6C-B43C-B5595B781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F4D5A-E5A7-53F4-85BA-D039AA61F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C6C98-EEF0-4229-A2B4-8C972A319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964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F5A0E6-0DCC-D681-90FA-50DB17CF7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E7224-CD5F-94C5-13A1-6515CB97B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D0DA7-B718-963A-271F-AFDCE4A648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DB804-B57F-4FB6-89D0-A1811CD2395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28FBE-3AE3-760E-99ED-55CBC76EB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ECA35-0F7B-8E44-09C5-54490EA490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C6C98-EEF0-4229-A2B4-8C972A319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FD8B2-6FDA-8F05-2D46-00679A99E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7715"/>
            <a:ext cx="10515600" cy="2639506"/>
          </a:xfrm>
        </p:spPr>
        <p:txBody>
          <a:bodyPr/>
          <a:lstStyle/>
          <a:p>
            <a:r>
              <a:rPr lang="en-US" dirty="0"/>
              <a:t>                </a:t>
            </a:r>
            <a:r>
              <a:rPr lang="en-US" sz="4800" b="1" dirty="0"/>
              <a:t>Behavioral Design Patterns</a:t>
            </a:r>
          </a:p>
        </p:txBody>
      </p:sp>
    </p:spTree>
    <p:extLst>
      <p:ext uri="{BB962C8B-B14F-4D97-AF65-F5344CB8AC3E}">
        <p14:creationId xmlns:p14="http://schemas.microsoft.com/office/powerpoint/2010/main" val="212730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D3B6F-ED20-1E94-F14F-E6503BE46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Behavioral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7A3C3-B095-5D03-1602-739202064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/>
              <a:t>Behavioral Design Patterns focus on how objects interact and communicate with each other.</a:t>
            </a:r>
          </a:p>
          <a:p>
            <a:r>
              <a:rPr lang="en-US" sz="2000" dirty="0"/>
              <a:t>They define responsibilities and behavior of objects to make the system flexible and loosely coupled.</a:t>
            </a:r>
          </a:p>
          <a:p>
            <a:pPr marL="457200" indent="-457200">
              <a:buAutoNum type="arabicPeriod"/>
            </a:pPr>
            <a:r>
              <a:rPr lang="en-US" sz="2400" b="1" dirty="0"/>
              <a:t>Observer Pattern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Observer Pattern defines a one-to-many relationship where multiple objects are notified automatically when the state of one object changes.</a:t>
            </a:r>
          </a:p>
          <a:p>
            <a:r>
              <a:rPr lang="en-US" sz="2000" b="1" dirty="0"/>
              <a:t>Key Points</a:t>
            </a:r>
          </a:p>
          <a:p>
            <a:r>
              <a:rPr lang="en-US" sz="2000" dirty="0"/>
              <a:t>One-to-many relationship</a:t>
            </a:r>
          </a:p>
          <a:p>
            <a:r>
              <a:rPr lang="en-US" sz="2000" dirty="0"/>
              <a:t>Subject notifies observers automatically</a:t>
            </a:r>
          </a:p>
          <a:p>
            <a:r>
              <a:rPr lang="en-US" sz="2000" dirty="0"/>
              <a:t>Loose coupling between objects</a:t>
            </a:r>
          </a:p>
          <a:p>
            <a:r>
              <a:rPr lang="en-US" sz="2000" b="1" dirty="0"/>
              <a:t>Example</a:t>
            </a:r>
          </a:p>
          <a:p>
            <a:r>
              <a:rPr lang="en-US" sz="2000" dirty="0"/>
              <a:t>YouTube channel notifications to subscribers</a:t>
            </a:r>
          </a:p>
          <a:p>
            <a:pPr marL="457200" indent="-457200"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66157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45715-A408-CB85-B131-48E5B4BA6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2. Strategy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858F2-C320-C12E-62DE-C0CA6F90E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6834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Strategy Pattern defines a family of algorithms, encapsulates each one, and makes them interchangeable at runtime.</a:t>
            </a:r>
          </a:p>
          <a:p>
            <a:r>
              <a:rPr lang="en-US" sz="2000" b="1" dirty="0"/>
              <a:t>Key Points</a:t>
            </a:r>
          </a:p>
          <a:p>
            <a:r>
              <a:rPr lang="en-US" sz="2000" dirty="0"/>
              <a:t>Defines multiple algorithms</a:t>
            </a:r>
          </a:p>
          <a:p>
            <a:r>
              <a:rPr lang="en-US" sz="2000" dirty="0"/>
              <a:t>Algorithms can be changed at runtime</a:t>
            </a:r>
          </a:p>
          <a:p>
            <a:r>
              <a:rPr lang="en-US" sz="2000" dirty="0"/>
              <a:t>Improves flexibility</a:t>
            </a:r>
          </a:p>
          <a:p>
            <a:r>
              <a:rPr lang="en-US" sz="2000" b="1" dirty="0"/>
              <a:t>Example</a:t>
            </a:r>
          </a:p>
          <a:p>
            <a:r>
              <a:rPr lang="en-US" sz="2000" dirty="0"/>
              <a:t>Payment options (UPI, Credit Card, Cash)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6563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BAC5E-4510-DAF1-04F2-14176F698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0ED4C-4092-E0C5-5199-5EF2D6F3C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418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Better flexibility and reusability</a:t>
            </a:r>
          </a:p>
          <a:p>
            <a:r>
              <a:rPr lang="en-US" sz="2000" dirty="0"/>
              <a:t>Improves maintainability</a:t>
            </a:r>
          </a:p>
          <a:p>
            <a:r>
              <a:rPr lang="en-US" sz="2000" dirty="0"/>
              <a:t>Clear separation of responsibilities</a:t>
            </a:r>
          </a:p>
          <a:p>
            <a:r>
              <a:rPr lang="en-US" sz="2000" dirty="0"/>
              <a:t>Simplifies complex interactions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Disadvantages</a:t>
            </a:r>
          </a:p>
          <a:p>
            <a:r>
              <a:rPr lang="en-US" sz="2000" dirty="0"/>
              <a:t>Increases number of classes</a:t>
            </a:r>
          </a:p>
          <a:p>
            <a:r>
              <a:rPr lang="en-US" sz="2000" dirty="0"/>
              <a:t>Design may become complex</a:t>
            </a:r>
          </a:p>
          <a:p>
            <a:r>
              <a:rPr lang="en-US" sz="2000" dirty="0"/>
              <a:t>Hard for beginners to understand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94856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EE7BA-F0F4-97DF-1FCC-C39DCE26A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0801A-D2E7-60B4-3D76-74DE96BCF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Behavioral Design Patterns manage object interaction and responsibilities, while Structural Patterns focus on object composition.</a:t>
            </a:r>
            <a:br>
              <a:rPr lang="en-US" sz="2000" dirty="0"/>
            </a:br>
            <a:r>
              <a:rPr lang="en-US" sz="2000" dirty="0"/>
              <a:t>Using these patterns improves software quality, flexibility, and scalability.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229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97C3C-5BEE-6619-DDA2-FF74F6C61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992" y="2684119"/>
            <a:ext cx="10515600" cy="1325563"/>
          </a:xfrm>
        </p:spPr>
        <p:txBody>
          <a:bodyPr/>
          <a:lstStyle/>
          <a:p>
            <a:r>
              <a:rPr lang="en-US" b="1" dirty="0"/>
              <a:t>                 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455110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190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                Behavioral Design Patterns</vt:lpstr>
      <vt:lpstr>Behavioral Design Pattern</vt:lpstr>
      <vt:lpstr>2. Strategy Pattern</vt:lpstr>
      <vt:lpstr>Advantages</vt:lpstr>
      <vt:lpstr>Conclusion</vt:lpstr>
      <vt:lpstr>     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</cp:revision>
  <dcterms:created xsi:type="dcterms:W3CDTF">2026-01-19T04:42:34Z</dcterms:created>
  <dcterms:modified xsi:type="dcterms:W3CDTF">2026-01-19T05:13:11Z</dcterms:modified>
</cp:coreProperties>
</file>